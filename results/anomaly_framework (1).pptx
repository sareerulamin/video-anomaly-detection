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4DA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2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3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3397-BACD-46A5-911D-24AAC581C256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981EB1-708B-4365-B9B7-0BB0D080D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45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81EB1-708B-4365-B9B7-0BB0D080D9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453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25639-3B94-99EA-793F-53996157E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F4A58-E480-C0B9-D5E7-1806C8783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63F6B-9700-9A61-612C-53F30CC0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2023-10-24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944B0-FE81-C24D-7453-3C081A30B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EC062-3FAD-543C-F8D6-21BBAB6D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585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DE2D-5806-A85E-6FBC-B23F41B2C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6724D-5462-3111-D9E8-DAA71358F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56E0D-2EE3-DF0A-D650-86D38B055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2023-10-24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3EE9E-53B4-530B-165B-6F2C2A5C2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D3449-0097-14F6-1CB6-505C04EB0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118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80B6-E427-9974-9947-85AA6E3D5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A2EB2-3698-C4EB-8684-667604609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89DB6-EEB9-F6DE-03A4-F8A9C4AA9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2023-10-24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99923-FA2E-8C8B-9CAF-4829C3CA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0E612-A833-728D-4FA4-F701EC130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491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2213-7FC8-789C-9620-94920EA96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A6E93-2C83-B7EE-0033-5D3588954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3F2BD-CF77-45C6-D61D-9933E9362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90FCD-E1CF-D6FC-4F53-71EF20DD0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2023-10-24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DB556-7CCE-C437-3D74-6D5EB838B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584AA-8008-46F1-7773-F385DEB3D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09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E088-98BF-7FA9-AEE1-4C369670E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2C1FF-7F5B-B862-F601-7373775D5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58077-A0FE-8D4B-EF06-DDFD9DB66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667093-7005-4313-A81E-96ACDF54C6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1A11A7-ACA5-6C88-C013-85A0C799AF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E09472-1D03-3DA4-FD58-34F04D58E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2023-10-24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96E08B-0E80-E8F5-BFDD-24B90A3B8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D5EF9-EE14-24A8-AC41-0A23453B4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733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C7E92-59EF-3DAF-5079-5F2514A0D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23879B-23A2-965D-3674-F1FE73F66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2023-10-24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629D84-A1EF-95A8-77A7-4D7A9729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BE0AB8-2D11-07BF-7B69-38CE5E81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942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5A61B-C3D3-3C8A-0591-8AF256D07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2023-10-24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31B70F-62DD-A035-B241-436272D66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A38A7-74F0-C472-C18A-4A891D41E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960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56615-8E64-50CA-C5F9-C2178D478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432D5-6DF7-BB73-00F0-8921F7C73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B0F00-9528-AA5D-9B14-8954C8346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4728F-F34C-BC99-180E-E2DD5C4A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2023-10-24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04DBA-294B-30AD-8DC3-E7D8B08C9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FB80C-EEA9-C87D-2EAC-04D9A1E10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739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F6A75-A28D-A318-2ACB-92372E855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F84C65-6D88-9D9E-98EC-0C198ECBF4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9C477-6C2C-5A99-4902-8A725102C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060BE-D931-8CBC-D417-C13CB73F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2023-10-24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829CE-0B23-4F8C-C8A5-8B40D8F8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5EF60-9556-216B-FC46-21323B238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864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43B8D-9EBA-8D7A-C4BE-EBA33BC6D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0A477-1BFF-2833-F3DC-4D0046B7C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EE151-9057-7126-F7A9-02BB20279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2023-10-24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21C38-4933-C66C-BF00-F7FC486F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2166E-D776-BDA1-CDD7-5D62D230D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477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54B98C-F039-B5E7-5842-A1E6F0166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BDFC0-7048-AE61-FC8F-8ECB3DED8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93380-FD80-FB60-A9C2-E7E1ED3C6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2023-10-24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19881-1A49-45D7-56D3-F97BBE81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6566C-AF43-046B-C9B7-9D2255E9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822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7FCC4A-5CA8-4294-EE02-7D179C705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8B6D3-A1BD-8A9B-845B-9D2008B1C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7BDC7-8420-161D-ACCB-AB85FD9C7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412C7-6C65-4548-B3CA-5412C6D8A6CE}" type="datetimeFigureOut">
              <a:rPr lang="ko-KR" altLang="en-US" smtClean="0"/>
              <a:t>2023-10-24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91B5D-9680-3FD4-C16B-36CC917AD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1494C-7F42-9F6C-463B-E93C40BF2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51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"/><Relationship Id="rId7" Type="http://schemas.openxmlformats.org/officeDocument/2006/relationships/image" Target="../media/image5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tif"/><Relationship Id="rId5" Type="http://schemas.openxmlformats.org/officeDocument/2006/relationships/image" Target="../media/image3.tif"/><Relationship Id="rId4" Type="http://schemas.openxmlformats.org/officeDocument/2006/relationships/image" Target="../media/image2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roup 269">
            <a:extLst>
              <a:ext uri="{FF2B5EF4-FFF2-40B4-BE49-F238E27FC236}">
                <a16:creationId xmlns:a16="http://schemas.microsoft.com/office/drawing/2014/main" id="{9EF82E16-2268-045B-0528-F8133D05B0E6}"/>
              </a:ext>
            </a:extLst>
          </p:cNvPr>
          <p:cNvGrpSpPr/>
          <p:nvPr/>
        </p:nvGrpSpPr>
        <p:grpSpPr>
          <a:xfrm>
            <a:off x="-238125" y="-1638300"/>
            <a:ext cx="15915479" cy="8763000"/>
            <a:chOff x="-238125" y="-1638300"/>
            <a:chExt cx="15915479" cy="8763000"/>
          </a:xfrm>
        </p:grpSpPr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B65ABCE2-961D-80D0-E389-354625466A38}"/>
                </a:ext>
              </a:extLst>
            </p:cNvPr>
            <p:cNvSpPr/>
            <p:nvPr/>
          </p:nvSpPr>
          <p:spPr>
            <a:xfrm>
              <a:off x="-139700" y="-1638300"/>
              <a:ext cx="15817054" cy="8763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1D2A9ADD-AF0F-3A8F-0AAD-6B76C90FB661}"/>
                </a:ext>
              </a:extLst>
            </p:cNvPr>
            <p:cNvGrpSpPr/>
            <p:nvPr/>
          </p:nvGrpSpPr>
          <p:grpSpPr>
            <a:xfrm>
              <a:off x="-238125" y="-1503592"/>
              <a:ext cx="15915479" cy="8505827"/>
              <a:chOff x="-238125" y="-1503592"/>
              <a:chExt cx="15915479" cy="8505827"/>
            </a:xfrm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BCBF104A-5932-4486-8BD9-429A91AE8BE1}"/>
                  </a:ext>
                </a:extLst>
              </p:cNvPr>
              <p:cNvSpPr/>
              <p:nvPr/>
            </p:nvSpPr>
            <p:spPr>
              <a:xfrm>
                <a:off x="7442874" y="-1503592"/>
                <a:ext cx="5125113" cy="8505826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BD2244D7-1901-FD4A-92C5-3A8BB59B6E97}"/>
                  </a:ext>
                </a:extLst>
              </p:cNvPr>
              <p:cNvSpPr/>
              <p:nvPr/>
            </p:nvSpPr>
            <p:spPr>
              <a:xfrm>
                <a:off x="2766749" y="-1503591"/>
                <a:ext cx="4676125" cy="8505826"/>
              </a:xfrm>
              <a:prstGeom prst="rect">
                <a:avLst/>
              </a:prstGeom>
              <a:solidFill>
                <a:srgbClr val="4DAE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3163CFE1-8F5E-4E08-4EC1-5A4EAB7872E3}"/>
                  </a:ext>
                </a:extLst>
              </p:cNvPr>
              <p:cNvGrpSpPr/>
              <p:nvPr/>
            </p:nvGrpSpPr>
            <p:grpSpPr>
              <a:xfrm>
                <a:off x="0" y="1913600"/>
                <a:ext cx="2638991" cy="2077375"/>
                <a:chOff x="2146072" y="1873188"/>
                <a:chExt cx="2638991" cy="2077375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BA3FFA8-D5AB-2FD3-F192-1AB175BC66DD}"/>
                    </a:ext>
                  </a:extLst>
                </p:cNvPr>
                <p:cNvSpPr/>
                <p:nvPr/>
              </p:nvSpPr>
              <p:spPr>
                <a:xfrm>
                  <a:off x="2146072" y="1873188"/>
                  <a:ext cx="2638991" cy="2077375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3" name="Picture 2" descr="A group of people walking on a sidewalk&#10;&#10;Description automatically generated">
                  <a:extLst>
                    <a:ext uri="{FF2B5EF4-FFF2-40B4-BE49-F238E27FC236}">
                      <a16:creationId xmlns:a16="http://schemas.microsoft.com/office/drawing/2014/main" id="{D28C0160-B73F-A00F-9A43-9869B50909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38199" y="2060369"/>
                  <a:ext cx="1190272" cy="790180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5" name="Picture 4" descr="A group of people walking on a sidewalk&#10;&#10;Description automatically generated">
                  <a:extLst>
                    <a:ext uri="{FF2B5EF4-FFF2-40B4-BE49-F238E27FC236}">
                      <a16:creationId xmlns:a16="http://schemas.microsoft.com/office/drawing/2014/main" id="{6373B208-9EEA-C939-24CA-4D10099487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62133" y="2347411"/>
                  <a:ext cx="1190272" cy="790180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7" name="Picture 6" descr="A group of people walking on a sidewalk&#10;&#10;Description automatically generated">
                  <a:extLst>
                    <a:ext uri="{FF2B5EF4-FFF2-40B4-BE49-F238E27FC236}">
                      <a16:creationId xmlns:a16="http://schemas.microsoft.com/office/drawing/2014/main" id="{8E2DC1F7-80D9-44EE-3FC0-BAE0767652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286067" y="2637433"/>
                  <a:ext cx="1190272" cy="790180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9" name="Picture 8" descr="A group of people walking on a sidewalk&#10;&#10;Description automatically generated">
                  <a:extLst>
                    <a:ext uri="{FF2B5EF4-FFF2-40B4-BE49-F238E27FC236}">
                      <a16:creationId xmlns:a16="http://schemas.microsoft.com/office/drawing/2014/main" id="{9C074022-A6D3-C602-AF10-6246219B71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25101" y="2935591"/>
                  <a:ext cx="1190272" cy="790180"/>
                </a:xfrm>
                <a:prstGeom prst="rect">
                  <a:avLst/>
                </a:prstGeom>
                <a:ln>
                  <a:noFill/>
                </a:ln>
              </p:spPr>
            </p:pic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CF808E9-D3A6-2D42-CFC5-E3386780B1C9}"/>
                    </a:ext>
                  </a:extLst>
                </p:cNvPr>
                <p:cNvSpPr txBox="1"/>
                <p:nvPr/>
              </p:nvSpPr>
              <p:spPr>
                <a:xfrm>
                  <a:off x="2154951" y="2308074"/>
                  <a:ext cx="612559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dirty="0">
                      <a:latin typeface="Cambria Math" panose="02040503050406030204" pitchFamily="18" charset="0"/>
                      <a:cs typeface="Calibri" panose="020F0502020204030204" pitchFamily="34" charset="0"/>
                    </a:rPr>
                    <a:t>𝑓</a:t>
                  </a:r>
                  <a:r>
                    <a:rPr lang="ko-KR" altLang="en-US" baseline="-25000" dirty="0">
                      <a:latin typeface="Cambria Math" panose="02040503050406030204" pitchFamily="18" charset="0"/>
                      <a:cs typeface="Calibri" panose="020F0502020204030204" pitchFamily="34" charset="0"/>
                    </a:rPr>
                    <a:t>𝑡</a:t>
                  </a:r>
                  <a:endParaRPr lang="ko-KR" altLang="en-US" baseline="-25000" dirty="0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4C8D45E-BE4E-1163-1BED-D210BAF4B4FC}"/>
                    </a:ext>
                  </a:extLst>
                </p:cNvPr>
                <p:cNvSpPr txBox="1"/>
                <p:nvPr/>
              </p:nvSpPr>
              <p:spPr>
                <a:xfrm>
                  <a:off x="2167618" y="2691408"/>
                  <a:ext cx="612559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dirty="0">
                      <a:latin typeface="Cambria Math" panose="02040503050406030204" pitchFamily="18" charset="0"/>
                      <a:cs typeface="Calibri" panose="020F0502020204030204" pitchFamily="34" charset="0"/>
                    </a:rPr>
                    <a:t>𝑓</a:t>
                  </a:r>
                  <a:r>
                    <a:rPr lang="ko-KR" altLang="en-US" baseline="-25000" dirty="0">
                      <a:latin typeface="Cambria Math" panose="02040503050406030204" pitchFamily="18" charset="0"/>
                      <a:cs typeface="Calibri" panose="020F0502020204030204" pitchFamily="34" charset="0"/>
                    </a:rPr>
                    <a:t>𝑡</a:t>
                  </a:r>
                  <a:r>
                    <a:rPr lang="en-US" altLang="ko-KR" baseline="-25000" dirty="0">
                      <a:latin typeface="Cambria Math" panose="02040503050406030204" pitchFamily="18" charset="0"/>
                      <a:cs typeface="Calibri" panose="020F0502020204030204" pitchFamily="34" charset="0"/>
                    </a:rPr>
                    <a:t>+</a:t>
                  </a:r>
                  <a:r>
                    <a:rPr lang="en-US" altLang="ko-KR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1</a:t>
                  </a:r>
                  <a:endParaRPr lang="ko-KR" altLang="en-US" baseline="-25000" dirty="0"/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D4DB4C0-5651-93D0-D0C3-E721F31292EC}"/>
                    </a:ext>
                  </a:extLst>
                </p:cNvPr>
                <p:cNvSpPr txBox="1"/>
                <p:nvPr/>
              </p:nvSpPr>
              <p:spPr>
                <a:xfrm>
                  <a:off x="2151347" y="3065758"/>
                  <a:ext cx="612559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dirty="0">
                      <a:latin typeface="Cambria Math" panose="02040503050406030204" pitchFamily="18" charset="0"/>
                      <a:cs typeface="Calibri" panose="020F0502020204030204" pitchFamily="34" charset="0"/>
                    </a:rPr>
                    <a:t>𝑓</a:t>
                  </a:r>
                  <a:r>
                    <a:rPr lang="ko-KR" altLang="en-US" baseline="-25000" dirty="0">
                      <a:latin typeface="Cambria Math" panose="02040503050406030204" pitchFamily="18" charset="0"/>
                      <a:cs typeface="Calibri" panose="020F0502020204030204" pitchFamily="34" charset="0"/>
                    </a:rPr>
                    <a:t>𝑡</a:t>
                  </a:r>
                  <a:r>
                    <a:rPr lang="en-US" altLang="ko-KR" baseline="-25000" dirty="0">
                      <a:latin typeface="Cambria Math" panose="02040503050406030204" pitchFamily="18" charset="0"/>
                      <a:cs typeface="Calibri" panose="020F0502020204030204" pitchFamily="34" charset="0"/>
                    </a:rPr>
                    <a:t>+</a:t>
                  </a:r>
                  <a:r>
                    <a:rPr lang="en-US" altLang="ko-KR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2</a:t>
                  </a:r>
                  <a:endParaRPr lang="ko-KR" altLang="en-US" baseline="-25000" dirty="0"/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21D822B-D282-4522-44FE-D62B39BDF217}"/>
                    </a:ext>
                  </a:extLst>
                </p:cNvPr>
                <p:cNvSpPr txBox="1"/>
                <p:nvPr/>
              </p:nvSpPr>
              <p:spPr>
                <a:xfrm>
                  <a:off x="2169094" y="3438622"/>
                  <a:ext cx="612559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dirty="0">
                      <a:latin typeface="Cambria Math" panose="02040503050406030204" pitchFamily="18" charset="0"/>
                      <a:cs typeface="Calibri" panose="020F0502020204030204" pitchFamily="34" charset="0"/>
                    </a:rPr>
                    <a:t>𝑓</a:t>
                  </a:r>
                  <a:r>
                    <a:rPr lang="ko-KR" altLang="en-US" baseline="-25000" dirty="0">
                      <a:latin typeface="Cambria Math" panose="02040503050406030204" pitchFamily="18" charset="0"/>
                      <a:cs typeface="Calibri" panose="020F0502020204030204" pitchFamily="34" charset="0"/>
                    </a:rPr>
                    <a:t>𝑡</a:t>
                  </a:r>
                  <a:r>
                    <a:rPr lang="en-US" altLang="ko-KR" baseline="-25000" dirty="0">
                      <a:latin typeface="Cambria Math" panose="02040503050406030204" pitchFamily="18" charset="0"/>
                      <a:cs typeface="Calibri" panose="020F0502020204030204" pitchFamily="34" charset="0"/>
                    </a:rPr>
                    <a:t>+</a:t>
                  </a:r>
                  <a:r>
                    <a:rPr lang="en-US" altLang="ko-KR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n</a:t>
                  </a:r>
                  <a:endParaRPr lang="ko-KR" altLang="en-US" baseline="-25000" dirty="0"/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0552A008-1E75-15B3-BCA7-72A1214A7629}"/>
                  </a:ext>
                </a:extLst>
              </p:cNvPr>
              <p:cNvGrpSpPr/>
              <p:nvPr/>
            </p:nvGrpSpPr>
            <p:grpSpPr>
              <a:xfrm>
                <a:off x="3652795" y="-789255"/>
                <a:ext cx="2357076" cy="5929580"/>
                <a:chOff x="4969164" y="1400266"/>
                <a:chExt cx="2439810" cy="7064071"/>
              </a:xfrm>
            </p:grpSpPr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4EA50099-5AC7-C693-1BF8-F16E9B2BE91E}"/>
                    </a:ext>
                  </a:extLst>
                </p:cNvPr>
                <p:cNvSpPr/>
                <p:nvPr/>
              </p:nvSpPr>
              <p:spPr>
                <a:xfrm>
                  <a:off x="4973786" y="5016304"/>
                  <a:ext cx="2435188" cy="3448033"/>
                </a:xfrm>
                <a:prstGeom prst="rect">
                  <a:avLst/>
                </a:prstGeom>
                <a:solidFill>
                  <a:schemeClr val="accent2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EC0A85B8-FA06-2690-0A5C-F64A95C6D45E}"/>
                    </a:ext>
                  </a:extLst>
                </p:cNvPr>
                <p:cNvSpPr/>
                <p:nvPr/>
              </p:nvSpPr>
              <p:spPr>
                <a:xfrm>
                  <a:off x="4969164" y="1400266"/>
                  <a:ext cx="2439810" cy="3448033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BE5535CA-26EB-EC28-F9C9-9021DDAF5C32}"/>
                    </a:ext>
                  </a:extLst>
                </p:cNvPr>
                <p:cNvGrpSpPr/>
                <p:nvPr/>
              </p:nvGrpSpPr>
              <p:grpSpPr>
                <a:xfrm>
                  <a:off x="5273335" y="2822508"/>
                  <a:ext cx="1677881" cy="843542"/>
                  <a:chOff x="5273335" y="3007229"/>
                  <a:chExt cx="1677881" cy="843542"/>
                </a:xfrm>
              </p:grpSpPr>
              <p:sp>
                <p:nvSpPr>
                  <p:cNvPr id="18" name="Flowchart: Manual Operation 17">
                    <a:extLst>
                      <a:ext uri="{FF2B5EF4-FFF2-40B4-BE49-F238E27FC236}">
                        <a16:creationId xmlns:a16="http://schemas.microsoft.com/office/drawing/2014/main" id="{47DFCE66-476E-7121-BDE2-4A8CCC89794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273335" y="3007229"/>
                    <a:ext cx="1677881" cy="843542"/>
                  </a:xfrm>
                  <a:prstGeom prst="flowChartManualOperation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scene3d>
                      <a:camera prst="orthographicFront">
                        <a:rot lat="0" lon="0" rev="10799999"/>
                      </a:camera>
                      <a:lightRig rig="threePt" dir="t"/>
                    </a:scene3d>
                  </a:bodyPr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37382529-2E37-9AFF-5F76-E0B0C21E9724}"/>
                      </a:ext>
                    </a:extLst>
                  </p:cNvPr>
                  <p:cNvSpPr txBox="1"/>
                  <p:nvPr/>
                </p:nvSpPr>
                <p:spPr>
                  <a:xfrm>
                    <a:off x="5539620" y="3105936"/>
                    <a:ext cx="1145309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bg1"/>
                        </a:solidFill>
                      </a:rPr>
                      <a:t>3D ConvT</a:t>
                    </a:r>
                    <a:endParaRPr lang="ko-KR" altLang="en-US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D6EB438B-DF6D-E8CF-069A-43BB132FF5A0}"/>
                    </a:ext>
                  </a:extLst>
                </p:cNvPr>
                <p:cNvGrpSpPr/>
                <p:nvPr/>
              </p:nvGrpSpPr>
              <p:grpSpPr>
                <a:xfrm>
                  <a:off x="5273335" y="1695635"/>
                  <a:ext cx="1677881" cy="843542"/>
                  <a:chOff x="5273335" y="1695635"/>
                  <a:chExt cx="1677881" cy="843542"/>
                </a:xfrm>
              </p:grpSpPr>
              <p:sp>
                <p:nvSpPr>
                  <p:cNvPr id="17" name="Flowchart: Manual Operation 16">
                    <a:extLst>
                      <a:ext uri="{FF2B5EF4-FFF2-40B4-BE49-F238E27FC236}">
                        <a16:creationId xmlns:a16="http://schemas.microsoft.com/office/drawing/2014/main" id="{E0D02A3F-2D80-4ABD-BFC1-371EF6795D9A}"/>
                      </a:ext>
                    </a:extLst>
                  </p:cNvPr>
                  <p:cNvSpPr/>
                  <p:nvPr/>
                </p:nvSpPr>
                <p:spPr>
                  <a:xfrm>
                    <a:off x="5273335" y="1695635"/>
                    <a:ext cx="1677881" cy="843542"/>
                  </a:xfrm>
                  <a:prstGeom prst="flowChartManualOperation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604416D-5F7E-4F20-CBAF-4D764B39D8A9}"/>
                      </a:ext>
                    </a:extLst>
                  </p:cNvPr>
                  <p:cNvSpPr txBox="1"/>
                  <p:nvPr/>
                </p:nvSpPr>
                <p:spPr>
                  <a:xfrm>
                    <a:off x="5553479" y="1798996"/>
                    <a:ext cx="1145309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bg1"/>
                        </a:solidFill>
                      </a:rPr>
                      <a:t>3D </a:t>
                    </a:r>
                  </a:p>
                  <a:p>
                    <a:pPr algn="ctr"/>
                    <a:r>
                      <a:rPr lang="en-US" altLang="ko-KR" b="1" dirty="0">
                        <a:solidFill>
                          <a:schemeClr val="bg1"/>
                        </a:solidFill>
                      </a:rPr>
                      <a:t>Conv</a:t>
                    </a:r>
                    <a:endParaRPr lang="ko-KR" altLang="en-US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CF21C3FF-BAEA-D813-9DA0-1C2E58A4D95A}"/>
                    </a:ext>
                  </a:extLst>
                </p:cNvPr>
                <p:cNvGrpSpPr/>
                <p:nvPr/>
              </p:nvGrpSpPr>
              <p:grpSpPr>
                <a:xfrm>
                  <a:off x="5277959" y="3963168"/>
                  <a:ext cx="1677881" cy="843542"/>
                  <a:chOff x="5273335" y="1695635"/>
                  <a:chExt cx="1677881" cy="843542"/>
                </a:xfrm>
                <a:solidFill>
                  <a:schemeClr val="tx1">
                    <a:lumMod val="65000"/>
                    <a:lumOff val="35000"/>
                  </a:schemeClr>
                </a:solidFill>
              </p:grpSpPr>
              <p:sp>
                <p:nvSpPr>
                  <p:cNvPr id="24" name="Flowchart: Manual Operation 23">
                    <a:extLst>
                      <a:ext uri="{FF2B5EF4-FFF2-40B4-BE49-F238E27FC236}">
                        <a16:creationId xmlns:a16="http://schemas.microsoft.com/office/drawing/2014/main" id="{471A1C30-173A-0985-C0C0-07016EA6EE17}"/>
                      </a:ext>
                    </a:extLst>
                  </p:cNvPr>
                  <p:cNvSpPr/>
                  <p:nvPr/>
                </p:nvSpPr>
                <p:spPr>
                  <a:xfrm>
                    <a:off x="5273335" y="1695635"/>
                    <a:ext cx="1677881" cy="843542"/>
                  </a:xfrm>
                  <a:prstGeom prst="flowChartManualOperation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BBD6F63F-8BF9-93E3-76DA-E43F21071AC2}"/>
                      </a:ext>
                    </a:extLst>
                  </p:cNvPr>
                  <p:cNvSpPr txBox="1"/>
                  <p:nvPr/>
                </p:nvSpPr>
                <p:spPr>
                  <a:xfrm>
                    <a:off x="5553479" y="1798996"/>
                    <a:ext cx="1145309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bg1"/>
                        </a:solidFill>
                      </a:rPr>
                      <a:t>3D </a:t>
                    </a:r>
                  </a:p>
                  <a:p>
                    <a:pPr algn="ctr"/>
                    <a:r>
                      <a:rPr lang="en-US" altLang="ko-KR" b="1" dirty="0">
                        <a:solidFill>
                          <a:schemeClr val="bg1"/>
                        </a:solidFill>
                      </a:rPr>
                      <a:t>Conv</a:t>
                    </a:r>
                    <a:endParaRPr lang="ko-KR" altLang="en-US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649EB5FE-9AC5-613F-9030-9A12BB751337}"/>
                    </a:ext>
                  </a:extLst>
                </p:cNvPr>
                <p:cNvCxnSpPr>
                  <a:cxnSpLocks/>
                  <a:stCxn id="17" idx="2"/>
                </p:cNvCxnSpPr>
                <p:nvPr/>
              </p:nvCxnSpPr>
              <p:spPr>
                <a:xfrm flipH="1">
                  <a:off x="6112274" y="2539177"/>
                  <a:ext cx="2" cy="28811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548E8C80-5FE9-0676-35C7-D1BF7D917F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15969" y="3679859"/>
                  <a:ext cx="2" cy="28811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386FAD48-69B8-3406-04D1-A6C04C6B425E}"/>
                    </a:ext>
                  </a:extLst>
                </p:cNvPr>
                <p:cNvGrpSpPr/>
                <p:nvPr/>
              </p:nvGrpSpPr>
              <p:grpSpPr>
                <a:xfrm>
                  <a:off x="5277952" y="6207639"/>
                  <a:ext cx="1677881" cy="843542"/>
                  <a:chOff x="5273335" y="3007229"/>
                  <a:chExt cx="1677881" cy="843542"/>
                </a:xfrm>
              </p:grpSpPr>
              <p:sp>
                <p:nvSpPr>
                  <p:cNvPr id="31" name="Flowchart: Manual Operation 30">
                    <a:extLst>
                      <a:ext uri="{FF2B5EF4-FFF2-40B4-BE49-F238E27FC236}">
                        <a16:creationId xmlns:a16="http://schemas.microsoft.com/office/drawing/2014/main" id="{A577F492-E093-35F0-D0DF-EFF021635FA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273335" y="3007229"/>
                    <a:ext cx="1677881" cy="843542"/>
                  </a:xfrm>
                  <a:prstGeom prst="flowChartManualOperation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scene3d>
                      <a:camera prst="orthographicFront">
                        <a:rot lat="0" lon="0" rev="10799999"/>
                      </a:camera>
                      <a:lightRig rig="threePt" dir="t"/>
                    </a:scene3d>
                  </a:bodyPr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F6CA0FD1-C513-FD18-8A00-0E96FBE9468D}"/>
                      </a:ext>
                    </a:extLst>
                  </p:cNvPr>
                  <p:cNvSpPr txBox="1"/>
                  <p:nvPr/>
                </p:nvSpPr>
                <p:spPr>
                  <a:xfrm>
                    <a:off x="5539620" y="3105936"/>
                    <a:ext cx="1145309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bg1"/>
                        </a:solidFill>
                      </a:rPr>
                      <a:t>3D ConvT</a:t>
                    </a:r>
                    <a:endParaRPr lang="ko-KR" altLang="en-US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B1AB6136-46FC-E75C-5492-5B7AC32C23BB}"/>
                    </a:ext>
                  </a:extLst>
                </p:cNvPr>
                <p:cNvGrpSpPr/>
                <p:nvPr/>
              </p:nvGrpSpPr>
              <p:grpSpPr>
                <a:xfrm>
                  <a:off x="5277952" y="5080766"/>
                  <a:ext cx="1677881" cy="843542"/>
                  <a:chOff x="5273335" y="1695635"/>
                  <a:chExt cx="1677881" cy="843542"/>
                </a:xfrm>
                <a:solidFill>
                  <a:schemeClr val="tx1">
                    <a:lumMod val="65000"/>
                    <a:lumOff val="35000"/>
                  </a:schemeClr>
                </a:solidFill>
              </p:grpSpPr>
              <p:sp>
                <p:nvSpPr>
                  <p:cNvPr id="34" name="Flowchart: Manual Operation 33">
                    <a:extLst>
                      <a:ext uri="{FF2B5EF4-FFF2-40B4-BE49-F238E27FC236}">
                        <a16:creationId xmlns:a16="http://schemas.microsoft.com/office/drawing/2014/main" id="{572E815D-159B-20F9-9857-1FD0CC65571E}"/>
                      </a:ext>
                    </a:extLst>
                  </p:cNvPr>
                  <p:cNvSpPr/>
                  <p:nvPr/>
                </p:nvSpPr>
                <p:spPr>
                  <a:xfrm>
                    <a:off x="5273335" y="1695635"/>
                    <a:ext cx="1677881" cy="843542"/>
                  </a:xfrm>
                  <a:prstGeom prst="flowChartManualOperation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4FC2A483-D5BB-6175-A415-F528CF7DDE37}"/>
                      </a:ext>
                    </a:extLst>
                  </p:cNvPr>
                  <p:cNvSpPr txBox="1"/>
                  <p:nvPr/>
                </p:nvSpPr>
                <p:spPr>
                  <a:xfrm>
                    <a:off x="5553479" y="1798996"/>
                    <a:ext cx="1145309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bg1"/>
                        </a:solidFill>
                      </a:rPr>
                      <a:t>3D </a:t>
                    </a:r>
                  </a:p>
                  <a:p>
                    <a:pPr algn="ctr"/>
                    <a:r>
                      <a:rPr lang="en-US" altLang="ko-KR" b="1" dirty="0">
                        <a:solidFill>
                          <a:schemeClr val="bg1"/>
                        </a:solidFill>
                      </a:rPr>
                      <a:t>Conv</a:t>
                    </a:r>
                    <a:endParaRPr lang="ko-KR" altLang="en-US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4B152112-CE57-5A61-1A05-094A5805868B}"/>
                    </a:ext>
                  </a:extLst>
                </p:cNvPr>
                <p:cNvGrpSpPr/>
                <p:nvPr/>
              </p:nvGrpSpPr>
              <p:grpSpPr>
                <a:xfrm>
                  <a:off x="5282576" y="7348299"/>
                  <a:ext cx="1677881" cy="843542"/>
                  <a:chOff x="5273335" y="1695635"/>
                  <a:chExt cx="1677881" cy="843542"/>
                </a:xfrm>
                <a:solidFill>
                  <a:schemeClr val="tx1">
                    <a:lumMod val="65000"/>
                    <a:lumOff val="35000"/>
                  </a:schemeClr>
                </a:solidFill>
              </p:grpSpPr>
              <p:sp>
                <p:nvSpPr>
                  <p:cNvPr id="37" name="Flowchart: Manual Operation 36">
                    <a:extLst>
                      <a:ext uri="{FF2B5EF4-FFF2-40B4-BE49-F238E27FC236}">
                        <a16:creationId xmlns:a16="http://schemas.microsoft.com/office/drawing/2014/main" id="{B08A9EDA-7116-0F6D-1EF9-3AEFA0BDE5CB}"/>
                      </a:ext>
                    </a:extLst>
                  </p:cNvPr>
                  <p:cNvSpPr/>
                  <p:nvPr/>
                </p:nvSpPr>
                <p:spPr>
                  <a:xfrm>
                    <a:off x="5273335" y="1695635"/>
                    <a:ext cx="1677881" cy="843542"/>
                  </a:xfrm>
                  <a:prstGeom prst="flowChartManualOperation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71510BE7-9D53-1B8E-5411-C1E0A96C720C}"/>
                      </a:ext>
                    </a:extLst>
                  </p:cNvPr>
                  <p:cNvSpPr txBox="1"/>
                  <p:nvPr/>
                </p:nvSpPr>
                <p:spPr>
                  <a:xfrm>
                    <a:off x="5553479" y="1798996"/>
                    <a:ext cx="1145309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bg1"/>
                        </a:solidFill>
                      </a:rPr>
                      <a:t>3D </a:t>
                    </a:r>
                  </a:p>
                  <a:p>
                    <a:pPr algn="ctr"/>
                    <a:r>
                      <a:rPr lang="en-US" altLang="ko-KR" b="1" dirty="0">
                        <a:solidFill>
                          <a:schemeClr val="bg1"/>
                        </a:solidFill>
                      </a:rPr>
                      <a:t>Conv</a:t>
                    </a:r>
                    <a:endParaRPr lang="ko-KR" altLang="en-US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42806963-A7DB-73CF-19AB-835E07A1B6B9}"/>
                    </a:ext>
                  </a:extLst>
                </p:cNvPr>
                <p:cNvCxnSpPr>
                  <a:cxnSpLocks/>
                  <a:stCxn id="34" idx="2"/>
                </p:cNvCxnSpPr>
                <p:nvPr/>
              </p:nvCxnSpPr>
              <p:spPr>
                <a:xfrm flipH="1">
                  <a:off x="6116891" y="5924308"/>
                  <a:ext cx="2" cy="28811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220FEECC-3870-160A-232B-119F424A9A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21515" y="7064989"/>
                  <a:ext cx="2" cy="28811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244FE1C3-2637-85DE-5ED6-70213878E7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12286" y="4792836"/>
                  <a:ext cx="2" cy="28811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6F326115-238B-563A-4A81-B84B609F2EA2}"/>
                  </a:ext>
                </a:extLst>
              </p:cNvPr>
              <p:cNvGrpSpPr/>
              <p:nvPr/>
            </p:nvGrpSpPr>
            <p:grpSpPr>
              <a:xfrm>
                <a:off x="6337562" y="1309763"/>
                <a:ext cx="912987" cy="2029472"/>
                <a:chOff x="6716249" y="2062238"/>
                <a:chExt cx="912987" cy="2029472"/>
              </a:xfrm>
              <a:solidFill>
                <a:srgbClr val="00B0F0"/>
              </a:solidFill>
            </p:grpSpPr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0F6C5B3A-09DC-AC74-1002-E66CE63D91A8}"/>
                    </a:ext>
                  </a:extLst>
                </p:cNvPr>
                <p:cNvSpPr/>
                <p:nvPr/>
              </p:nvSpPr>
              <p:spPr>
                <a:xfrm>
                  <a:off x="6716249" y="2062238"/>
                  <a:ext cx="912987" cy="202947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B08E325-410D-EEA6-EB3F-AD29932426E4}"/>
                    </a:ext>
                  </a:extLst>
                </p:cNvPr>
                <p:cNvSpPr txBox="1"/>
                <p:nvPr/>
              </p:nvSpPr>
              <p:spPr>
                <a:xfrm>
                  <a:off x="6933791" y="2198247"/>
                  <a:ext cx="461665" cy="1697946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vert270" wrap="square" rtlCol="0">
                  <a:spAutoFit/>
                </a:bodyPr>
                <a:lstStyle/>
                <a:p>
                  <a:pPr algn="ctr"/>
                  <a:r>
                    <a:rPr lang="en-US" altLang="ko-KR" b="1" dirty="0">
                      <a:solidFill>
                        <a:schemeClr val="bg1"/>
                      </a:solidFill>
                    </a:rPr>
                    <a:t>CNN-LSTM2D</a:t>
                  </a:r>
                  <a:endParaRPr lang="ko-KR" altLang="en-US" b="1" dirty="0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70" name="Connector: Elbow 69">
                <a:extLst>
                  <a:ext uri="{FF2B5EF4-FFF2-40B4-BE49-F238E27FC236}">
                    <a16:creationId xmlns:a16="http://schemas.microsoft.com/office/drawing/2014/main" id="{FD4F01BC-67D2-ADC2-6CF7-9DE44D163D45}"/>
                  </a:ext>
                </a:extLst>
              </p:cNvPr>
              <p:cNvCxnSpPr>
                <a:cxnSpLocks/>
                <a:stCxn id="43" idx="2"/>
                <a:endCxn id="50" idx="1"/>
              </p:cNvCxnSpPr>
              <p:nvPr/>
            </p:nvCxnSpPr>
            <p:spPr>
              <a:xfrm rot="5400000" flipH="1" flipV="1">
                <a:off x="4177651" y="2980414"/>
                <a:ext cx="2815826" cy="1503996"/>
              </a:xfrm>
              <a:prstGeom prst="bentConnector4">
                <a:avLst>
                  <a:gd name="adj1" fmla="val -8118"/>
                  <a:gd name="adj2" fmla="val 89106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Connector: Curved 72">
                <a:extLst>
                  <a:ext uri="{FF2B5EF4-FFF2-40B4-BE49-F238E27FC236}">
                    <a16:creationId xmlns:a16="http://schemas.microsoft.com/office/drawing/2014/main" id="{C6802AE8-5C60-7B87-F5A3-5B6F5FF18421}"/>
                  </a:ext>
                </a:extLst>
              </p:cNvPr>
              <p:cNvCxnSpPr>
                <a:stCxn id="50" idx="0"/>
                <a:endCxn id="50" idx="2"/>
              </p:cNvCxnSpPr>
              <p:nvPr/>
            </p:nvCxnSpPr>
            <p:spPr>
              <a:xfrm rot="16200000" flipH="1">
                <a:off x="5779320" y="2324499"/>
                <a:ext cx="2029472" cy="12700"/>
              </a:xfrm>
              <a:prstGeom prst="curvedConnector5">
                <a:avLst>
                  <a:gd name="adj1" fmla="val -11264"/>
                  <a:gd name="adj2" fmla="val 5394441"/>
                  <a:gd name="adj3" fmla="val 111264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1CA365FB-EA9E-ECAB-26BC-3D3FE72FCE5C}"/>
                  </a:ext>
                </a:extLst>
              </p:cNvPr>
              <p:cNvSpPr txBox="1"/>
              <p:nvPr/>
            </p:nvSpPr>
            <p:spPr>
              <a:xfrm rot="16200000">
                <a:off x="2072321" y="3751551"/>
                <a:ext cx="22099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Micro Autoencoder</a:t>
                </a:r>
                <a:endParaRPr lang="ko-KR" altLang="en-US" dirty="0"/>
              </a:p>
            </p:txBody>
          </p: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DD377B21-1B9F-7BD3-C18C-459A6C98D479}"/>
                  </a:ext>
                </a:extLst>
              </p:cNvPr>
              <p:cNvGrpSpPr/>
              <p:nvPr/>
            </p:nvGrpSpPr>
            <p:grpSpPr>
              <a:xfrm>
                <a:off x="3177304" y="1731285"/>
                <a:ext cx="427738" cy="1099949"/>
                <a:chOff x="3177304" y="2483760"/>
                <a:chExt cx="427738" cy="1099949"/>
              </a:xfrm>
            </p:grpSpPr>
            <p:sp>
              <p:nvSpPr>
                <p:cNvPr id="81" name="Left Brace 80">
                  <a:extLst>
                    <a:ext uri="{FF2B5EF4-FFF2-40B4-BE49-F238E27FC236}">
                      <a16:creationId xmlns:a16="http://schemas.microsoft.com/office/drawing/2014/main" id="{9C7E3739-EE16-9A94-4709-1E608E17394F}"/>
                    </a:ext>
                  </a:extLst>
                </p:cNvPr>
                <p:cNvSpPr/>
                <p:nvPr/>
              </p:nvSpPr>
              <p:spPr>
                <a:xfrm>
                  <a:off x="3369449" y="2483760"/>
                  <a:ext cx="235593" cy="889824"/>
                </a:xfrm>
                <a:prstGeom prst="leftBrace">
                  <a:avLst>
                    <a:gd name="adj1" fmla="val 26911"/>
                    <a:gd name="adj2" fmla="val 50000"/>
                  </a:avLst>
                </a:prstGeom>
                <a:ln>
                  <a:solidFill>
                    <a:srgbClr val="FF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37FDD923-E122-AD9C-3298-DFE72607FD6B}"/>
                    </a:ext>
                  </a:extLst>
                </p:cNvPr>
                <p:cNvCxnSpPr>
                  <a:cxnSpLocks/>
                  <a:stCxn id="82" idx="3"/>
                  <a:endCxn id="81" idx="1"/>
                </p:cNvCxnSpPr>
                <p:nvPr/>
              </p:nvCxnSpPr>
              <p:spPr>
                <a:xfrm flipV="1">
                  <a:off x="3177304" y="2928672"/>
                  <a:ext cx="192145" cy="65503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0" name="Connector: Elbow 89">
                <a:extLst>
                  <a:ext uri="{FF2B5EF4-FFF2-40B4-BE49-F238E27FC236}">
                    <a16:creationId xmlns:a16="http://schemas.microsoft.com/office/drawing/2014/main" id="{878C9642-E355-D8F2-3EF2-22191DF2D82F}"/>
                  </a:ext>
                </a:extLst>
              </p:cNvPr>
              <p:cNvCxnSpPr>
                <a:stCxn id="17" idx="3"/>
                <a:endCxn id="24" idx="3"/>
              </p:cNvCxnSpPr>
              <p:nvPr/>
            </p:nvCxnSpPr>
            <p:spPr>
              <a:xfrm>
                <a:off x="5405538" y="-187287"/>
                <a:ext cx="4467" cy="1903367"/>
              </a:xfrm>
              <a:prstGeom prst="bentConnector3">
                <a:avLst>
                  <a:gd name="adj1" fmla="val 8846317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Connector: Elbow 92">
                <a:extLst>
                  <a:ext uri="{FF2B5EF4-FFF2-40B4-BE49-F238E27FC236}">
                    <a16:creationId xmlns:a16="http://schemas.microsoft.com/office/drawing/2014/main" id="{EC430362-E210-2A3F-3603-67F2D13D04FD}"/>
                  </a:ext>
                </a:extLst>
              </p:cNvPr>
              <p:cNvCxnSpPr>
                <a:stCxn id="10" idx="2"/>
                <a:endCxn id="42" idx="0"/>
              </p:cNvCxnSpPr>
              <p:nvPr/>
            </p:nvCxnSpPr>
            <p:spPr>
              <a:xfrm rot="5400000" flipH="1" flipV="1">
                <a:off x="685299" y="-155059"/>
                <a:ext cx="4780230" cy="3511837"/>
              </a:xfrm>
              <a:prstGeom prst="bentConnector5">
                <a:avLst>
                  <a:gd name="adj1" fmla="val -4782"/>
                  <a:gd name="adj2" fmla="val 47125"/>
                  <a:gd name="adj3" fmla="val 104782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Connector: Elbow 95">
                <a:extLst>
                  <a:ext uri="{FF2B5EF4-FFF2-40B4-BE49-F238E27FC236}">
                    <a16:creationId xmlns:a16="http://schemas.microsoft.com/office/drawing/2014/main" id="{92C2C243-CC75-EEE8-7F64-04A2C3AD35EF}"/>
                  </a:ext>
                </a:extLst>
              </p:cNvPr>
              <p:cNvCxnSpPr>
                <a:cxnSpLocks/>
                <a:stCxn id="34" idx="3"/>
                <a:endCxn id="37" idx="3"/>
              </p:cNvCxnSpPr>
              <p:nvPr/>
            </p:nvCxnSpPr>
            <p:spPr>
              <a:xfrm>
                <a:off x="5409998" y="2654191"/>
                <a:ext cx="4467" cy="1903367"/>
              </a:xfrm>
              <a:prstGeom prst="bentConnector3">
                <a:avLst>
                  <a:gd name="adj1" fmla="val 8846317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B82D2752-AD3E-E5BA-9F34-41775CC555BF}"/>
                  </a:ext>
                </a:extLst>
              </p:cNvPr>
              <p:cNvGrpSpPr/>
              <p:nvPr/>
            </p:nvGrpSpPr>
            <p:grpSpPr>
              <a:xfrm>
                <a:off x="8767155" y="-366923"/>
                <a:ext cx="1677881" cy="843542"/>
                <a:chOff x="10053176" y="490327"/>
                <a:chExt cx="1677881" cy="843542"/>
              </a:xfrm>
            </p:grpSpPr>
            <p:sp>
              <p:nvSpPr>
                <p:cNvPr id="101" name="Flowchart: Manual Operation 100">
                  <a:extLst>
                    <a:ext uri="{FF2B5EF4-FFF2-40B4-BE49-F238E27FC236}">
                      <a16:creationId xmlns:a16="http://schemas.microsoft.com/office/drawing/2014/main" id="{8128E162-B581-5F1B-D163-909E04C6E420}"/>
                    </a:ext>
                  </a:extLst>
                </p:cNvPr>
                <p:cNvSpPr/>
                <p:nvPr/>
              </p:nvSpPr>
              <p:spPr>
                <a:xfrm rot="10800000">
                  <a:off x="10053176" y="490327"/>
                  <a:ext cx="1677881" cy="843542"/>
                </a:xfrm>
                <a:prstGeom prst="flowChartManualOperat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>
                      <a:rot lat="0" lon="0" rev="10799999"/>
                    </a:camera>
                    <a:lightRig rig="threePt" dir="t"/>
                  </a:scene3d>
                </a:bodyPr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E20D5416-606E-8D85-E3A2-AD077B8B4B3F}"/>
                    </a:ext>
                  </a:extLst>
                </p:cNvPr>
                <p:cNvSpPr txBox="1"/>
                <p:nvPr/>
              </p:nvSpPr>
              <p:spPr>
                <a:xfrm>
                  <a:off x="10319461" y="589034"/>
                  <a:ext cx="1145309" cy="64633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ko-KR" b="1" dirty="0">
                      <a:solidFill>
                        <a:schemeClr val="bg1"/>
                      </a:solidFill>
                    </a:rPr>
                    <a:t>3D ConvT</a:t>
                  </a:r>
                  <a:endParaRPr lang="ko-KR" altLang="en-US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1A29780A-7D5A-CC3F-901A-17E4934A1FB9}"/>
                  </a:ext>
                </a:extLst>
              </p:cNvPr>
              <p:cNvGrpSpPr/>
              <p:nvPr/>
            </p:nvGrpSpPr>
            <p:grpSpPr>
              <a:xfrm>
                <a:off x="7974157" y="903606"/>
                <a:ext cx="3292257" cy="593655"/>
                <a:chOff x="7983682" y="1760856"/>
                <a:chExt cx="3292257" cy="593655"/>
              </a:xfrm>
            </p:grpSpPr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0DE3926A-57FE-BB29-AD5C-B0DBF6E82D25}"/>
                    </a:ext>
                  </a:extLst>
                </p:cNvPr>
                <p:cNvSpPr/>
                <p:nvPr/>
              </p:nvSpPr>
              <p:spPr>
                <a:xfrm>
                  <a:off x="7983682" y="1760856"/>
                  <a:ext cx="3292257" cy="59365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004D1D7A-BEFF-9628-D622-ADB5AE557DF9}"/>
                    </a:ext>
                  </a:extLst>
                </p:cNvPr>
                <p:cNvSpPr txBox="1"/>
                <p:nvPr/>
              </p:nvSpPr>
              <p:spPr>
                <a:xfrm>
                  <a:off x="8451272" y="1879563"/>
                  <a:ext cx="25307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b="1" dirty="0">
                      <a:solidFill>
                        <a:schemeClr val="bg1"/>
                      </a:solidFill>
                    </a:rPr>
                    <a:t>3D Conv+BN+ReLU</a:t>
                  </a:r>
                  <a:endParaRPr lang="ko-KR" altLang="en-US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799D2D97-65F2-AF78-7570-E2F37A7015CE}"/>
                  </a:ext>
                </a:extLst>
              </p:cNvPr>
              <p:cNvGrpSpPr/>
              <p:nvPr/>
            </p:nvGrpSpPr>
            <p:grpSpPr>
              <a:xfrm>
                <a:off x="9572348" y="1629247"/>
                <a:ext cx="132539" cy="922415"/>
                <a:chOff x="9385928" y="2708568"/>
                <a:chExt cx="132539" cy="922415"/>
              </a:xfrm>
            </p:grpSpPr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EEFE4724-1164-9969-3BEB-FE24410992D9}"/>
                    </a:ext>
                  </a:extLst>
                </p:cNvPr>
                <p:cNvSpPr/>
                <p:nvPr/>
              </p:nvSpPr>
              <p:spPr>
                <a:xfrm>
                  <a:off x="9385928" y="2708568"/>
                  <a:ext cx="130629" cy="13543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EBB430B8-60CB-36FD-9D50-DF942A8519D1}"/>
                    </a:ext>
                  </a:extLst>
                </p:cNvPr>
                <p:cNvSpPr/>
                <p:nvPr/>
              </p:nvSpPr>
              <p:spPr>
                <a:xfrm>
                  <a:off x="9387838" y="2947884"/>
                  <a:ext cx="130629" cy="13543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7" name="Oval 106">
                  <a:extLst>
                    <a:ext uri="{FF2B5EF4-FFF2-40B4-BE49-F238E27FC236}">
                      <a16:creationId xmlns:a16="http://schemas.microsoft.com/office/drawing/2014/main" id="{4AE5CE03-482B-45D5-0D3D-D9A1494AAE82}"/>
                    </a:ext>
                  </a:extLst>
                </p:cNvPr>
                <p:cNvSpPr/>
                <p:nvPr/>
              </p:nvSpPr>
              <p:spPr>
                <a:xfrm>
                  <a:off x="9385928" y="3495544"/>
                  <a:ext cx="130629" cy="13543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62B7DF76-828F-EBF9-E5DC-F503D5DA6F9B}"/>
                    </a:ext>
                  </a:extLst>
                </p:cNvPr>
                <p:cNvSpPr/>
                <p:nvPr/>
              </p:nvSpPr>
              <p:spPr>
                <a:xfrm>
                  <a:off x="9387838" y="3230650"/>
                  <a:ext cx="130629" cy="13543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BF103539-7238-85FF-76BF-2F429C77A7A6}"/>
                  </a:ext>
                </a:extLst>
              </p:cNvPr>
              <p:cNvGrpSpPr/>
              <p:nvPr/>
            </p:nvGrpSpPr>
            <p:grpSpPr>
              <a:xfrm>
                <a:off x="8817986" y="2753911"/>
                <a:ext cx="1677881" cy="843542"/>
                <a:chOff x="8709944" y="3598098"/>
                <a:chExt cx="1677881" cy="843542"/>
              </a:xfrm>
            </p:grpSpPr>
            <p:sp>
              <p:nvSpPr>
                <p:cNvPr id="110" name="Flowchart: Manual Operation 109">
                  <a:extLst>
                    <a:ext uri="{FF2B5EF4-FFF2-40B4-BE49-F238E27FC236}">
                      <a16:creationId xmlns:a16="http://schemas.microsoft.com/office/drawing/2014/main" id="{C775DE12-7ABB-79BC-F6F9-143D51263A2C}"/>
                    </a:ext>
                  </a:extLst>
                </p:cNvPr>
                <p:cNvSpPr/>
                <p:nvPr/>
              </p:nvSpPr>
              <p:spPr>
                <a:xfrm rot="10800000">
                  <a:off x="8709944" y="3598098"/>
                  <a:ext cx="1677881" cy="843542"/>
                </a:xfrm>
                <a:prstGeom prst="flowChartManualOperat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>
                      <a:rot lat="0" lon="0" rev="10799999"/>
                    </a:camera>
                    <a:lightRig rig="threePt" dir="t"/>
                  </a:scene3d>
                </a:bodyPr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F52BC8C8-D666-33A9-8D6C-841533E567C6}"/>
                    </a:ext>
                  </a:extLst>
                </p:cNvPr>
                <p:cNvSpPr txBox="1"/>
                <p:nvPr/>
              </p:nvSpPr>
              <p:spPr>
                <a:xfrm>
                  <a:off x="8976229" y="3696805"/>
                  <a:ext cx="1145309" cy="64633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ko-KR" b="1" dirty="0">
                      <a:solidFill>
                        <a:schemeClr val="bg1"/>
                      </a:solidFill>
                    </a:rPr>
                    <a:t>3D ConvT</a:t>
                  </a:r>
                  <a:endParaRPr lang="ko-KR" altLang="en-US" b="1" dirty="0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13" name="Straight Arrow Connector 112">
                <a:extLst>
                  <a:ext uri="{FF2B5EF4-FFF2-40B4-BE49-F238E27FC236}">
                    <a16:creationId xmlns:a16="http://schemas.microsoft.com/office/drawing/2014/main" id="{17C5B14E-73BA-0AD1-81DB-70491E365710}"/>
                  </a:ext>
                </a:extLst>
              </p:cNvPr>
              <p:cNvCxnSpPr>
                <a:stCxn id="101" idx="0"/>
                <a:endCxn id="100" idx="0"/>
              </p:cNvCxnSpPr>
              <p:nvPr/>
            </p:nvCxnSpPr>
            <p:spPr>
              <a:xfrm>
                <a:off x="9606095" y="476619"/>
                <a:ext cx="14191" cy="4269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7D24F1D3-0283-4348-9863-8D7D795030AD}"/>
                  </a:ext>
                </a:extLst>
              </p:cNvPr>
              <p:cNvGrpSpPr/>
              <p:nvPr/>
            </p:nvGrpSpPr>
            <p:grpSpPr>
              <a:xfrm>
                <a:off x="7969801" y="4021280"/>
                <a:ext cx="3292257" cy="593655"/>
                <a:chOff x="7983682" y="1760856"/>
                <a:chExt cx="3292257" cy="593655"/>
              </a:xfrm>
            </p:grpSpPr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2FB9E230-51CD-5E26-5927-0120CA8F80AA}"/>
                    </a:ext>
                  </a:extLst>
                </p:cNvPr>
                <p:cNvSpPr/>
                <p:nvPr/>
              </p:nvSpPr>
              <p:spPr>
                <a:xfrm>
                  <a:off x="7983682" y="1760856"/>
                  <a:ext cx="3292257" cy="59365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1C96996-4463-7823-1C34-C969A8BECD5A}"/>
                    </a:ext>
                  </a:extLst>
                </p:cNvPr>
                <p:cNvSpPr txBox="1"/>
                <p:nvPr/>
              </p:nvSpPr>
              <p:spPr>
                <a:xfrm>
                  <a:off x="8451272" y="1879563"/>
                  <a:ext cx="25307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b="1" dirty="0">
                      <a:solidFill>
                        <a:schemeClr val="bg1"/>
                      </a:solidFill>
                    </a:rPr>
                    <a:t>3D Conv+BN+ReLU</a:t>
                  </a:r>
                  <a:endParaRPr lang="ko-KR" altLang="en-US" b="1" dirty="0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19" name="Straight Arrow Connector 118">
                <a:extLst>
                  <a:ext uri="{FF2B5EF4-FFF2-40B4-BE49-F238E27FC236}">
                    <a16:creationId xmlns:a16="http://schemas.microsoft.com/office/drawing/2014/main" id="{D90720E6-F652-9794-882E-CDA3F520BFE7}"/>
                  </a:ext>
                </a:extLst>
              </p:cNvPr>
              <p:cNvCxnSpPr>
                <a:cxnSpLocks/>
                <a:endCxn id="117" idx="0"/>
              </p:cNvCxnSpPr>
              <p:nvPr/>
            </p:nvCxnSpPr>
            <p:spPr>
              <a:xfrm>
                <a:off x="9606095" y="3608439"/>
                <a:ext cx="9835" cy="41284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Connector: Elbow 121">
                <a:extLst>
                  <a:ext uri="{FF2B5EF4-FFF2-40B4-BE49-F238E27FC236}">
                    <a16:creationId xmlns:a16="http://schemas.microsoft.com/office/drawing/2014/main" id="{46AF99AA-3E84-19D2-3AE7-975114E2BCC9}"/>
                  </a:ext>
                </a:extLst>
              </p:cNvPr>
              <p:cNvCxnSpPr>
                <a:stCxn id="50" idx="3"/>
                <a:endCxn id="101" idx="2"/>
              </p:cNvCxnSpPr>
              <p:nvPr/>
            </p:nvCxnSpPr>
            <p:spPr>
              <a:xfrm flipV="1">
                <a:off x="7250549" y="-366923"/>
                <a:ext cx="2355546" cy="2691422"/>
              </a:xfrm>
              <a:prstGeom prst="bentConnector4">
                <a:avLst>
                  <a:gd name="adj1" fmla="val 19252"/>
                  <a:gd name="adj2" fmla="val 108494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C580E7DD-1117-B22B-60A7-C8CDEA891858}"/>
                  </a:ext>
                </a:extLst>
              </p:cNvPr>
              <p:cNvGrpSpPr/>
              <p:nvPr/>
            </p:nvGrpSpPr>
            <p:grpSpPr>
              <a:xfrm>
                <a:off x="11587742" y="2054618"/>
                <a:ext cx="912987" cy="2029472"/>
                <a:chOff x="6716249" y="2062238"/>
                <a:chExt cx="912987" cy="2029472"/>
              </a:xfrm>
              <a:solidFill>
                <a:srgbClr val="00B0F0"/>
              </a:solidFill>
            </p:grpSpPr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9A5CECDA-C19F-12DA-F971-F673CFC085F8}"/>
                    </a:ext>
                  </a:extLst>
                </p:cNvPr>
                <p:cNvSpPr/>
                <p:nvPr/>
              </p:nvSpPr>
              <p:spPr>
                <a:xfrm>
                  <a:off x="6716249" y="2062238"/>
                  <a:ext cx="912987" cy="202947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138B0B7D-B467-0608-1AF6-C4DFB158AEA3}"/>
                    </a:ext>
                  </a:extLst>
                </p:cNvPr>
                <p:cNvSpPr txBox="1"/>
                <p:nvPr/>
              </p:nvSpPr>
              <p:spPr>
                <a:xfrm>
                  <a:off x="6933791" y="2198247"/>
                  <a:ext cx="461665" cy="1697946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vert270" wrap="square" rtlCol="0">
                  <a:spAutoFit/>
                </a:bodyPr>
                <a:lstStyle/>
                <a:p>
                  <a:pPr algn="ctr"/>
                  <a:r>
                    <a:rPr lang="en-US" altLang="ko-KR" b="1" dirty="0">
                      <a:solidFill>
                        <a:schemeClr val="bg1"/>
                      </a:solidFill>
                    </a:rPr>
                    <a:t>CNN-LSTM2D</a:t>
                  </a:r>
                  <a:endParaRPr lang="ko-KR" altLang="en-US" b="1" dirty="0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27" name="Connector: Curved 126">
                <a:extLst>
                  <a:ext uri="{FF2B5EF4-FFF2-40B4-BE49-F238E27FC236}">
                    <a16:creationId xmlns:a16="http://schemas.microsoft.com/office/drawing/2014/main" id="{7D460154-0037-94C6-9E2B-1D2ED9817113}"/>
                  </a:ext>
                </a:extLst>
              </p:cNvPr>
              <p:cNvCxnSpPr>
                <a:stCxn id="125" idx="0"/>
                <a:endCxn id="125" idx="2"/>
              </p:cNvCxnSpPr>
              <p:nvPr/>
            </p:nvCxnSpPr>
            <p:spPr>
              <a:xfrm rot="16200000" flipH="1">
                <a:off x="11029500" y="3069354"/>
                <a:ext cx="2029472" cy="12700"/>
              </a:xfrm>
              <a:prstGeom prst="curvedConnector5">
                <a:avLst>
                  <a:gd name="adj1" fmla="val -17636"/>
                  <a:gd name="adj2" fmla="val 2630803"/>
                  <a:gd name="adj3" fmla="val 119911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" name="Connector: Elbow 128">
                <a:extLst>
                  <a:ext uri="{FF2B5EF4-FFF2-40B4-BE49-F238E27FC236}">
                    <a16:creationId xmlns:a16="http://schemas.microsoft.com/office/drawing/2014/main" id="{6E346FCB-59C3-04A7-AA87-D64BE1F9E2FE}"/>
                  </a:ext>
                </a:extLst>
              </p:cNvPr>
              <p:cNvCxnSpPr>
                <a:stCxn id="117" idx="2"/>
                <a:endCxn id="125" idx="1"/>
              </p:cNvCxnSpPr>
              <p:nvPr/>
            </p:nvCxnSpPr>
            <p:spPr>
              <a:xfrm rot="5400000" flipH="1" flipV="1">
                <a:off x="9829045" y="2856239"/>
                <a:ext cx="1545581" cy="1971812"/>
              </a:xfrm>
              <a:prstGeom prst="bentConnector4">
                <a:avLst>
                  <a:gd name="adj1" fmla="val -14791"/>
                  <a:gd name="adj2" fmla="val 91742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5F75A42A-3615-F2F4-801F-A3926EC741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584258" y="3143718"/>
                <a:ext cx="28218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FCA7BEE4-5BB9-B6A7-F682-1E96A218CAE4}"/>
                  </a:ext>
                </a:extLst>
              </p:cNvPr>
              <p:cNvGrpSpPr/>
              <p:nvPr/>
            </p:nvGrpSpPr>
            <p:grpSpPr>
              <a:xfrm>
                <a:off x="12919375" y="2000654"/>
                <a:ext cx="2638991" cy="2077375"/>
                <a:chOff x="13004800" y="1504025"/>
                <a:chExt cx="2638991" cy="2077375"/>
              </a:xfrm>
            </p:grpSpPr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A3EE834E-681E-AC5A-3329-8E0C107D0E5C}"/>
                    </a:ext>
                  </a:extLst>
                </p:cNvPr>
                <p:cNvGrpSpPr/>
                <p:nvPr/>
              </p:nvGrpSpPr>
              <p:grpSpPr>
                <a:xfrm>
                  <a:off x="13004800" y="1504025"/>
                  <a:ext cx="2638991" cy="2077375"/>
                  <a:chOff x="2146072" y="1873188"/>
                  <a:chExt cx="2638991" cy="2077375"/>
                </a:xfrm>
              </p:grpSpPr>
              <p:sp>
                <p:nvSpPr>
                  <p:cNvPr id="143" name="Rectangle 142">
                    <a:extLst>
                      <a:ext uri="{FF2B5EF4-FFF2-40B4-BE49-F238E27FC236}">
                        <a16:creationId xmlns:a16="http://schemas.microsoft.com/office/drawing/2014/main" id="{9D767D37-C091-2364-107F-99E53FF70354}"/>
                      </a:ext>
                    </a:extLst>
                  </p:cNvPr>
                  <p:cNvSpPr/>
                  <p:nvPr/>
                </p:nvSpPr>
                <p:spPr>
                  <a:xfrm>
                    <a:off x="2146072" y="1873188"/>
                    <a:ext cx="2638991" cy="2077375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50EA2C18-3CEF-4228-B665-91EBDEFB0BA3}"/>
                      </a:ext>
                    </a:extLst>
                  </p:cNvPr>
                  <p:cNvSpPr txBox="1"/>
                  <p:nvPr/>
                </p:nvSpPr>
                <p:spPr>
                  <a:xfrm>
                    <a:off x="2154951" y="2308074"/>
                    <a:ext cx="61255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ko-KR" altLang="en-US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a:t>𝑓</a:t>
                    </a:r>
                    <a:r>
                      <a:rPr lang="en-US" altLang="ko-KR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'</a:t>
                    </a:r>
                    <a:r>
                      <a:rPr lang="ko-KR" altLang="en-US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a:t>𝑡</a:t>
                    </a:r>
                    <a:endParaRPr lang="ko-KR" altLang="en-US" baseline="-25000" dirty="0"/>
                  </a:p>
                </p:txBody>
              </p:sp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438E8C18-2DFE-D963-0B59-F817837DCCDE}"/>
                      </a:ext>
                    </a:extLst>
                  </p:cNvPr>
                  <p:cNvSpPr txBox="1"/>
                  <p:nvPr/>
                </p:nvSpPr>
                <p:spPr>
                  <a:xfrm>
                    <a:off x="2167618" y="2691408"/>
                    <a:ext cx="72572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ko-KR" altLang="en-US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a:t>𝑓</a:t>
                    </a:r>
                    <a:r>
                      <a:rPr lang="en-US" altLang="ko-KR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'</a:t>
                    </a:r>
                    <a:r>
                      <a:rPr lang="ko-KR" altLang="en-US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a:t>𝑡</a:t>
                    </a:r>
                    <a:r>
                      <a:rPr lang="en-US" altLang="ko-KR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a:t>+</a:t>
                    </a:r>
                    <a:r>
                      <a:rPr lang="en-US" altLang="ko-KR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1</a:t>
                    </a:r>
                    <a:endParaRPr lang="ko-KR" altLang="en-US" baseline="-25000" dirty="0"/>
                  </a:p>
                </p:txBody>
              </p:sp>
              <p:sp>
                <p:nvSpPr>
                  <p:cNvPr id="150" name="TextBox 149">
                    <a:extLst>
                      <a:ext uri="{FF2B5EF4-FFF2-40B4-BE49-F238E27FC236}">
                        <a16:creationId xmlns:a16="http://schemas.microsoft.com/office/drawing/2014/main" id="{D82C4449-16FB-711A-DB40-19974A2CA67A}"/>
                      </a:ext>
                    </a:extLst>
                  </p:cNvPr>
                  <p:cNvSpPr txBox="1"/>
                  <p:nvPr/>
                </p:nvSpPr>
                <p:spPr>
                  <a:xfrm>
                    <a:off x="2151347" y="3065758"/>
                    <a:ext cx="83328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ko-KR" altLang="en-US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a:t>𝑓</a:t>
                    </a:r>
                    <a:r>
                      <a:rPr lang="en-US" altLang="ko-KR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'</a:t>
                    </a:r>
                    <a:r>
                      <a:rPr lang="ko-KR" altLang="en-US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a:t>𝑡</a:t>
                    </a:r>
                    <a:r>
                      <a:rPr lang="en-US" altLang="ko-KR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a:t>+</a:t>
                    </a:r>
                    <a:r>
                      <a:rPr lang="en-US" altLang="ko-KR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2</a:t>
                    </a:r>
                    <a:endParaRPr lang="ko-KR" altLang="en-US" baseline="-25000" dirty="0"/>
                  </a:p>
                </p:txBody>
              </p:sp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id="{26825DE4-C4B9-B286-68BC-E5FF39990A51}"/>
                      </a:ext>
                    </a:extLst>
                  </p:cNvPr>
                  <p:cNvSpPr txBox="1"/>
                  <p:nvPr/>
                </p:nvSpPr>
                <p:spPr>
                  <a:xfrm>
                    <a:off x="2169094" y="3438622"/>
                    <a:ext cx="81553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ko-KR" altLang="en-US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a:t>𝑓</a:t>
                    </a:r>
                    <a:r>
                      <a:rPr lang="en-US" altLang="ko-KR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'</a:t>
                    </a:r>
                    <a:r>
                      <a:rPr lang="ko-KR" altLang="en-US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a:t>𝑡</a:t>
                    </a:r>
                    <a:r>
                      <a:rPr lang="en-US" altLang="ko-KR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a:t>+</a:t>
                    </a:r>
                    <a:r>
                      <a:rPr lang="en-US" altLang="ko-KR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n</a:t>
                    </a:r>
                    <a:endParaRPr lang="ko-KR" altLang="en-US" baseline="-25000" dirty="0"/>
                  </a:p>
                </p:txBody>
              </p:sp>
            </p:grpSp>
            <p:pic>
              <p:nvPicPr>
                <p:cNvPr id="138" name="Picture 137" descr="A group of people walking on a sidewalk&#10;&#10;Description automatically generated">
                  <a:extLst>
                    <a:ext uri="{FF2B5EF4-FFF2-40B4-BE49-F238E27FC236}">
                      <a16:creationId xmlns:a16="http://schemas.microsoft.com/office/drawing/2014/main" id="{52F00703-772A-9701-0AC8-EFEEB8D8DF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740165" y="1689545"/>
                  <a:ext cx="1185722" cy="788285"/>
                </a:xfrm>
                <a:prstGeom prst="rect">
                  <a:avLst/>
                </a:prstGeom>
              </p:spPr>
            </p:pic>
            <p:pic>
              <p:nvPicPr>
                <p:cNvPr id="139" name="Picture 138" descr="A group of people walking on a sidewalk&#10;&#10;Description automatically generated">
                  <a:extLst>
                    <a:ext uri="{FF2B5EF4-FFF2-40B4-BE49-F238E27FC236}">
                      <a16:creationId xmlns:a16="http://schemas.microsoft.com/office/drawing/2014/main" id="{89B7CB4C-FFBE-AA7D-B054-769D9D3D25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987815" y="1975291"/>
                  <a:ext cx="1185722" cy="788285"/>
                </a:xfrm>
                <a:prstGeom prst="rect">
                  <a:avLst/>
                </a:prstGeom>
              </p:spPr>
            </p:pic>
            <p:pic>
              <p:nvPicPr>
                <p:cNvPr id="140" name="Picture 139" descr="A group of people walking on a sidewalk&#10;&#10;Description automatically generated">
                  <a:extLst>
                    <a:ext uri="{FF2B5EF4-FFF2-40B4-BE49-F238E27FC236}">
                      <a16:creationId xmlns:a16="http://schemas.microsoft.com/office/drawing/2014/main" id="{5DA615E3-E254-EB08-ACA0-1E0B17D1F5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223560" y="2279299"/>
                  <a:ext cx="1185722" cy="788285"/>
                </a:xfrm>
                <a:prstGeom prst="rect">
                  <a:avLst/>
                </a:prstGeom>
              </p:spPr>
            </p:pic>
            <p:pic>
              <p:nvPicPr>
                <p:cNvPr id="141" name="Picture 140" descr="A group of people walking on a sidewalk&#10;&#10;Description automatically generated">
                  <a:extLst>
                    <a:ext uri="{FF2B5EF4-FFF2-40B4-BE49-F238E27FC236}">
                      <a16:creationId xmlns:a16="http://schemas.microsoft.com/office/drawing/2014/main" id="{22344D4D-32C1-DFBC-5F7E-BD084F6004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368017" y="2566633"/>
                  <a:ext cx="1185722" cy="788285"/>
                </a:xfrm>
                <a:prstGeom prst="rect">
                  <a:avLst/>
                </a:prstGeom>
              </p:spPr>
            </p:pic>
          </p:grp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467DFC62-5C1A-385F-C405-AA4F414008EF}"/>
                  </a:ext>
                </a:extLst>
              </p:cNvPr>
              <p:cNvSpPr txBox="1"/>
              <p:nvPr/>
            </p:nvSpPr>
            <p:spPr>
              <a:xfrm>
                <a:off x="-238125" y="1533525"/>
                <a:ext cx="31057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b="1" dirty="0"/>
                  <a:t>Input Video Sequence</a:t>
                </a:r>
                <a:endParaRPr lang="ko-KR" altLang="en-US" b="1" dirty="0"/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DF889CE5-91A5-4381-B07C-5CA959622679}"/>
                  </a:ext>
                </a:extLst>
              </p:cNvPr>
              <p:cNvSpPr txBox="1"/>
              <p:nvPr/>
            </p:nvSpPr>
            <p:spPr>
              <a:xfrm>
                <a:off x="12571638" y="1339395"/>
                <a:ext cx="31057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b="1" dirty="0"/>
                  <a:t>Reconstructed Video Sequence</a:t>
                </a:r>
                <a:endParaRPr lang="ko-KR" altLang="en-US" b="1" dirty="0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E83BAA94-359A-C3C7-1709-E7DD7498DDA0}"/>
                  </a:ext>
                </a:extLst>
              </p:cNvPr>
              <p:cNvSpPr txBox="1"/>
              <p:nvPr/>
            </p:nvSpPr>
            <p:spPr>
              <a:xfrm>
                <a:off x="3219450" y="-1476375"/>
                <a:ext cx="31057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b="1" dirty="0"/>
                  <a:t>3D CNN-LSTM Encoder</a:t>
                </a:r>
                <a:endParaRPr lang="ko-KR" altLang="en-US" b="1" dirty="0"/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DF63A4CB-7815-2666-3B7C-03AE816BBA26}"/>
                  </a:ext>
                </a:extLst>
              </p:cNvPr>
              <p:cNvSpPr txBox="1"/>
              <p:nvPr/>
            </p:nvSpPr>
            <p:spPr>
              <a:xfrm>
                <a:off x="8124825" y="-1323975"/>
                <a:ext cx="31057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b="1" dirty="0"/>
                  <a:t>3D CNN-LSTM Decoder</a:t>
                </a:r>
                <a:endParaRPr lang="ko-KR" altLang="en-US" b="1" dirty="0"/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52EDE91A-5911-1F86-3F20-9E35E84E721C}"/>
                  </a:ext>
                </a:extLst>
              </p:cNvPr>
              <p:cNvSpPr txBox="1"/>
              <p:nvPr/>
            </p:nvSpPr>
            <p:spPr>
              <a:xfrm>
                <a:off x="2776273" y="5657850"/>
                <a:ext cx="46761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Learning short spatiotemporal features</a:t>
                </a:r>
                <a:endParaRPr lang="ko-KR" altLang="en-US" dirty="0"/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4151A3D1-D5AE-01FD-0969-C1F410EFD65A}"/>
                  </a:ext>
                </a:extLst>
              </p:cNvPr>
              <p:cNvSpPr txBox="1"/>
              <p:nvPr/>
            </p:nvSpPr>
            <p:spPr>
              <a:xfrm>
                <a:off x="7634023" y="5657850"/>
                <a:ext cx="46761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Learning long spatiotemporal features</a:t>
                </a:r>
                <a:endParaRPr lang="ko-KR" altLang="en-US" dirty="0"/>
              </a:p>
            </p:txBody>
          </p:sp>
          <p:cxnSp>
            <p:nvCxnSpPr>
              <p:cNvPr id="176" name="Connector: Elbow 175">
                <a:extLst>
                  <a:ext uri="{FF2B5EF4-FFF2-40B4-BE49-F238E27FC236}">
                    <a16:creationId xmlns:a16="http://schemas.microsoft.com/office/drawing/2014/main" id="{3491EAA1-51A4-F532-EACC-4443EE6B7162}"/>
                  </a:ext>
                </a:extLst>
              </p:cNvPr>
              <p:cNvCxnSpPr>
                <a:cxnSpLocks/>
                <a:endCxn id="131" idx="3"/>
              </p:cNvCxnSpPr>
              <p:nvPr/>
            </p:nvCxnSpPr>
            <p:spPr>
              <a:xfrm>
                <a:off x="5567636" y="-541322"/>
                <a:ext cx="7000351" cy="3290643"/>
              </a:xfrm>
              <a:prstGeom prst="bentConnector5">
                <a:avLst>
                  <a:gd name="adj1" fmla="val 8284"/>
                  <a:gd name="adj2" fmla="val -3889"/>
                  <a:gd name="adj3" fmla="val 103266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6" name="Connector: Elbow 185">
                <a:extLst>
                  <a:ext uri="{FF2B5EF4-FFF2-40B4-BE49-F238E27FC236}">
                    <a16:creationId xmlns:a16="http://schemas.microsoft.com/office/drawing/2014/main" id="{5ADCF924-33DF-4CD6-9784-AA7946DA12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5115379" y="-272155"/>
                <a:ext cx="1324100" cy="743784"/>
              </a:xfrm>
              <a:prstGeom prst="bentConnector3">
                <a:avLst>
                  <a:gd name="adj1" fmla="val 125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52" name="Group 251">
                <a:extLst>
                  <a:ext uri="{FF2B5EF4-FFF2-40B4-BE49-F238E27FC236}">
                    <a16:creationId xmlns:a16="http://schemas.microsoft.com/office/drawing/2014/main" id="{4747B31E-2241-C981-D14A-3566E013135C}"/>
                  </a:ext>
                </a:extLst>
              </p:cNvPr>
              <p:cNvGrpSpPr/>
              <p:nvPr/>
            </p:nvGrpSpPr>
            <p:grpSpPr>
              <a:xfrm>
                <a:off x="3724020" y="2654191"/>
                <a:ext cx="5261754" cy="2960950"/>
                <a:chOff x="3724020" y="2654191"/>
                <a:chExt cx="5261754" cy="2960950"/>
              </a:xfrm>
            </p:grpSpPr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B339D408-1BEB-3525-AF52-C87998A436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724020" y="3597453"/>
                  <a:ext cx="388755" cy="2634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250" name="Group 249">
                  <a:extLst>
                    <a:ext uri="{FF2B5EF4-FFF2-40B4-BE49-F238E27FC236}">
                      <a16:creationId xmlns:a16="http://schemas.microsoft.com/office/drawing/2014/main" id="{86403161-3449-6143-E3F0-B5D638621DCA}"/>
                    </a:ext>
                  </a:extLst>
                </p:cNvPr>
                <p:cNvGrpSpPr/>
                <p:nvPr/>
              </p:nvGrpSpPr>
              <p:grpSpPr>
                <a:xfrm>
                  <a:off x="4113210" y="2654191"/>
                  <a:ext cx="4872564" cy="2960950"/>
                  <a:chOff x="4113210" y="2654191"/>
                  <a:chExt cx="4872564" cy="2960950"/>
                </a:xfrm>
              </p:grpSpPr>
              <p:cxnSp>
                <p:nvCxnSpPr>
                  <p:cNvPr id="227" name="Connector: Elbow 226">
                    <a:extLst>
                      <a:ext uri="{FF2B5EF4-FFF2-40B4-BE49-F238E27FC236}">
                        <a16:creationId xmlns:a16="http://schemas.microsoft.com/office/drawing/2014/main" id="{EB244976-2437-4A30-2630-2353EFDCF505}"/>
                      </a:ext>
                    </a:extLst>
                  </p:cNvPr>
                  <p:cNvCxnSpPr>
                    <a:cxnSpLocks/>
                    <a:stCxn id="34" idx="1"/>
                  </p:cNvCxnSpPr>
                  <p:nvPr/>
                </p:nvCxnSpPr>
                <p:spPr>
                  <a:xfrm rot="10800000" flipH="1" flipV="1">
                    <a:off x="4113210" y="2654191"/>
                    <a:ext cx="3562266" cy="2960950"/>
                  </a:xfrm>
                  <a:prstGeom prst="bentConnector3">
                    <a:avLst>
                      <a:gd name="adj1" fmla="val -10968"/>
                    </a:avLst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0" name="Straight Connector 239">
                    <a:extLst>
                      <a:ext uri="{FF2B5EF4-FFF2-40B4-BE49-F238E27FC236}">
                        <a16:creationId xmlns:a16="http://schemas.microsoft.com/office/drawing/2014/main" id="{F3299D6C-1030-94F7-2887-5564620D8D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7664302" y="3170070"/>
                    <a:ext cx="11174" cy="244507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4" name="Straight Arrow Connector 243">
                    <a:extLst>
                      <a:ext uri="{FF2B5EF4-FFF2-40B4-BE49-F238E27FC236}">
                        <a16:creationId xmlns:a16="http://schemas.microsoft.com/office/drawing/2014/main" id="{F798224D-F51B-AC1F-7EE4-D8E3A67451BA}"/>
                      </a:ext>
                    </a:extLst>
                  </p:cNvPr>
                  <p:cNvCxnSpPr>
                    <a:cxnSpLocks/>
                    <a:endCxn id="110" idx="3"/>
                  </p:cNvCxnSpPr>
                  <p:nvPr/>
                </p:nvCxnSpPr>
                <p:spPr>
                  <a:xfrm flipV="1">
                    <a:off x="7657403" y="3175682"/>
                    <a:ext cx="1328371" cy="232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54" name="Connector: Elbow 253">
                <a:extLst>
                  <a:ext uri="{FF2B5EF4-FFF2-40B4-BE49-F238E27FC236}">
                    <a16:creationId xmlns:a16="http://schemas.microsoft.com/office/drawing/2014/main" id="{46D4E2D3-B8CF-F1AA-0467-ECF81EA78B9D}"/>
                  </a:ext>
                </a:extLst>
              </p:cNvPr>
              <p:cNvCxnSpPr>
                <a:cxnSpLocks/>
                <a:stCxn id="10" idx="2"/>
                <a:endCxn id="263" idx="1"/>
              </p:cNvCxnSpPr>
              <p:nvPr/>
            </p:nvCxnSpPr>
            <p:spPr>
              <a:xfrm rot="16200000" flipH="1">
                <a:off x="2553190" y="2757280"/>
                <a:ext cx="2567934" cy="5035323"/>
              </a:xfrm>
              <a:prstGeom prst="bentConnector2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2" name="Connector: Elbow 261">
                <a:extLst>
                  <a:ext uri="{FF2B5EF4-FFF2-40B4-BE49-F238E27FC236}">
                    <a16:creationId xmlns:a16="http://schemas.microsoft.com/office/drawing/2014/main" id="{37999C6D-C6AB-59CF-FC12-9807B60C55A0}"/>
                  </a:ext>
                </a:extLst>
              </p:cNvPr>
              <p:cNvCxnSpPr>
                <a:cxnSpLocks/>
                <a:stCxn id="143" idx="2"/>
                <a:endCxn id="264" idx="3"/>
              </p:cNvCxnSpPr>
              <p:nvPr/>
            </p:nvCxnSpPr>
            <p:spPr>
              <a:xfrm rot="5400000">
                <a:off x="10142333" y="2481437"/>
                <a:ext cx="2499946" cy="5693131"/>
              </a:xfrm>
              <a:prstGeom prst="bentConnector2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65" name="Group 264">
                <a:extLst>
                  <a:ext uri="{FF2B5EF4-FFF2-40B4-BE49-F238E27FC236}">
                    <a16:creationId xmlns:a16="http://schemas.microsoft.com/office/drawing/2014/main" id="{6925D311-7A2A-1C3E-61C0-8F28490698B0}"/>
                  </a:ext>
                </a:extLst>
              </p:cNvPr>
              <p:cNvGrpSpPr/>
              <p:nvPr/>
            </p:nvGrpSpPr>
            <p:grpSpPr>
              <a:xfrm>
                <a:off x="6354819" y="6301443"/>
                <a:ext cx="2194095" cy="514932"/>
                <a:chOff x="6354819" y="7665785"/>
                <a:chExt cx="2194095" cy="514932"/>
              </a:xfrm>
            </p:grpSpPr>
            <p:sp>
              <p:nvSpPr>
                <p:cNvPr id="263" name="Rectangle: Rounded Corners 262">
                  <a:extLst>
                    <a:ext uri="{FF2B5EF4-FFF2-40B4-BE49-F238E27FC236}">
                      <a16:creationId xmlns:a16="http://schemas.microsoft.com/office/drawing/2014/main" id="{3A529490-34E1-0095-1DD7-4D349B6C5F3D}"/>
                    </a:ext>
                  </a:extLst>
                </p:cNvPr>
                <p:cNvSpPr/>
                <p:nvPr/>
              </p:nvSpPr>
              <p:spPr>
                <a:xfrm>
                  <a:off x="6354819" y="7665785"/>
                  <a:ext cx="2194095" cy="514932"/>
                </a:xfrm>
                <a:prstGeom prst="round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E6F1F057-A100-401A-8393-FEB6B9DF77E8}"/>
                    </a:ext>
                  </a:extLst>
                </p:cNvPr>
                <p:cNvSpPr txBox="1"/>
                <p:nvPr/>
              </p:nvSpPr>
              <p:spPr>
                <a:xfrm>
                  <a:off x="6775735" y="7711484"/>
                  <a:ext cx="177000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400" i="1" dirty="0">
                      <a:latin typeface="Cambria Math" panose="02040503050406030204" pitchFamily="18" charset="0"/>
                      <a:cs typeface="Calibri" panose="020F0502020204030204" pitchFamily="34" charset="0"/>
                    </a:rPr>
                    <a:t>E </a:t>
                  </a:r>
                  <a:r>
                    <a:rPr lang="en-US" altLang="ko-KR" sz="2400" dirty="0">
                      <a:latin typeface="Cambria Math" panose="02040503050406030204" pitchFamily="18" charset="0"/>
                      <a:cs typeface="Calibri" panose="020F0502020204030204" pitchFamily="34" charset="0"/>
                    </a:rPr>
                    <a:t>(</a:t>
                  </a:r>
                  <a:r>
                    <a:rPr lang="ko-KR" altLang="en-US" sz="2400" dirty="0">
                      <a:latin typeface="Cambria Math" panose="02040503050406030204" pitchFamily="18" charset="0"/>
                      <a:cs typeface="Calibri" panose="020F0502020204030204" pitchFamily="34" charset="0"/>
                    </a:rPr>
                    <a:t>𝑓</a:t>
                  </a:r>
                  <a:r>
                    <a:rPr lang="ko-KR" altLang="en-US" sz="2400" baseline="-25000" dirty="0">
                      <a:latin typeface="Cambria Math" panose="02040503050406030204" pitchFamily="18" charset="0"/>
                      <a:cs typeface="Calibri" panose="020F0502020204030204" pitchFamily="34" charset="0"/>
                    </a:rPr>
                    <a:t>𝑡</a:t>
                  </a:r>
                  <a:r>
                    <a:rPr lang="en-US" altLang="ko-KR" sz="2400" baseline="-25000" dirty="0">
                      <a:latin typeface="Cambria Math" panose="02040503050406030204" pitchFamily="18" charset="0"/>
                      <a:cs typeface="Calibri" panose="020F0502020204030204" pitchFamily="34" charset="0"/>
                    </a:rPr>
                    <a:t>,  </a:t>
                  </a:r>
                  <a:r>
                    <a:rPr lang="ko-KR" altLang="en-US" sz="2400" dirty="0">
                      <a:latin typeface="Cambria Math" panose="02040503050406030204" pitchFamily="18" charset="0"/>
                      <a:cs typeface="Calibri" panose="020F0502020204030204" pitchFamily="34" charset="0"/>
                    </a:rPr>
                    <a:t>𝑓</a:t>
                  </a:r>
                  <a:r>
                    <a:rPr lang="en-US" altLang="ko-KR" sz="2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’</a:t>
                  </a:r>
                  <a:r>
                    <a:rPr lang="ko-KR" altLang="en-US" sz="2400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𝑡</a:t>
                  </a:r>
                  <a:r>
                    <a:rPr lang="en-US" altLang="ko-KR" sz="2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)</a:t>
                  </a:r>
                  <a:endParaRPr lang="ko-KR" altLang="en-US" sz="2400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35311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89</Words>
  <Application>Microsoft Office PowerPoint</Application>
  <PresentationFormat>Widescreen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Hamza Zia</dc:creator>
  <cp:lastModifiedBy>SAREER ULAMIN</cp:lastModifiedBy>
  <cp:revision>5</cp:revision>
  <dcterms:created xsi:type="dcterms:W3CDTF">2023-08-09T13:12:47Z</dcterms:created>
  <dcterms:modified xsi:type="dcterms:W3CDTF">2023-10-24T12:58:46Z</dcterms:modified>
</cp:coreProperties>
</file>